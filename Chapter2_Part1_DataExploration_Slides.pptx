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943600" cy="5943600"/>
          </a:xfrm>
          <a:prstGeom prst="ellipse">
            <a:avLst/>
          </a:prstGeom>
          <a:solidFill>
            <a:srgbClr val="223762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-1645920"/>
            <a:ext cx="3291840" cy="3291840"/>
          </a:xfrm>
          <a:prstGeom prst="ellipse">
            <a:avLst/>
          </a:prstGeom>
          <a:solidFill>
            <a:srgbClr val="2C427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STUDY 1 · CHAPTER 2 · 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조류 대발생 예측 (1)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탐색과 결측치 처리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Predicting Algae Blooms — 실제 유럽 하천 수질 데이터로 배우는 R 데이터마이닝 파이프라인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원저: Luis Torgo, 'Data Mining with R' (2003) Chapter 2 를 바탕으로, Analysis.txt / Eval.txt / Sols.txt 데이터를 R로 직접 실행한 결과로 재구성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739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데이터 이해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10312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조류 대발생 예측 문제의 배경과 Analysis/Eval/Sols 데이터 구조를 설명할 수 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82549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탐색적 데이터 분석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15468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히스토그램·박스플롯·조건부 그래프로 변수의 분포와 이상치를 파악할 수 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87705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 처리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20624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제거·평균/중앙값 대체·상관관계·유사사례 기반 등 결측치 처리 전략을 이해하고 R로 구현할 수 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9286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준비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25780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모델링(Part 2)에 사용할 완전한(clean) 데이터셋을 완성한다.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설명: 왜 조류 대발생을 예측할까?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858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하천의 유해 조류(algae) 대량 발생은 생태계와 수질에 심각한 영향을 미치는 문제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 여러 하천에서 약 1년에 걸쳐 수질 샘플을 채취, 화학적 특성과 7종 유해 조류의 발생 빈도를 기록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화학적 성분 측정은 저렴하고 자동화하기 쉬운 반면, 조류를 현미경으로 식별하는 생물학적 분석은 비싸고 느림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목표: 화학적 특성만으로 조류 빈도를 예측하는 모델을 만들어, 저렴하고 자동화된 조기 경보 시스템을 구축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737360"/>
            <a:ext cx="4053535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909560" y="2377440"/>
            <a:ext cx="341345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 모니터링은 자동화가 쉽고 저렴하지만, 실제 조류 식별(생물학적 분석)은 숙련된 인력과 시간이 필요합니다. 이 간극을 메우는 것이 예측 모델의 역할입니다.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설명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6675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샘플 수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Analysis.txt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200개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학습(훈련)용 수질 샘플 — 설명변수 11개 + 조류 빈도 7개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Eval.txt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140개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평가(테스트)용 수질 샘플 — 설명변수 11개만 포함 (조류 빈도 없음)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Sols.txt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140개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Eval.txt 샘플들의 실제 조류 빈도 정답 — 모델 성능 검증용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4904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설명변수 11개 = 계절/강 크기/유속(범주형 3개) + 화학 성분 8개(mxPH, mnO2, Cl, NO3, NH4, oPO4, PO4, Chla)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목표변수 7개(a1~a7) = 7종 유해 조류 각각의 발생 빈도 (알려지지 않은 실제 조류 이름)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결측값은 텍스트 파일에서 문자열 'XXXXXXX'로 표시됨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LOADING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R로 데이터 불러오기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2286000"/>
          </a:xfrm>
          <a:prstGeom prst="roundRect">
            <a:avLst>
              <a:gd name="adj" fmla="val 36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 &lt;- read.table('Analysis.txt', header=F, dec='.',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col.names=c('season','size','speed','mxPH','mnO2','Cl',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'NO3','NH4','oPO4','PO4','Chla','a1','a2','a3','a4',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'a5','a6','a7'),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na.strings=c('XXXXXXX'))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header=F : 파일 첫 줄에 변수명이 없음 · col.names : 각 열에 붙일 이름을 직접 지정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na.strings='XXXXXXX' : 이 문자열을 결측값(NA)으로 해석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2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367528"/>
            <a:ext cx="1063721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결과: nrow(algae) = 200,  ncol(algae) = 18  →  200개 샘플 × 18개 변수의 데이터프레임이 만들어졌습니다.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기술통계 요약: summary(algae)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요약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season / size / speed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autumn 40 · spring 53 · summer 45 · winter 62  /  large 45 · medium 84 · small 71  /  high 84 · low 33 · medium 83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mxPH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8.01, 중앙값 8.06, 범위 [5.6, 9.7], 결측 1개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 / NH4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 결측 10개(가장 많음) · NH4 평균 501.3 ≫ 중앙값 103.2 → 매우 치우친(skewed) 분포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Chla / a1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Chla 결측 12개 · a1(조류1)은 평균 16.9, 최댓값 89.8로 변동이 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2F5F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367528"/>
            <a:ext cx="1063721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summary()는 범주형 변수는 각 값의 빈도를, 수치형 변수는 최소/1사분위/중앙값/평균/3사분위/최대값과 결측치 개수를 보여줍니다.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히스토그램으로 분포 살펴보기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47365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hist(algae$mxPH, prob=T)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prob=T : 도수 대신 확률(밀도)로 표시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mxPH는 평균 주변에 값이 고르게 모여있는, 정규분포에 가까운 형태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53328" y="1614496"/>
            <a:ext cx="5662879" cy="4177647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11" name="Image 0" descr="/tmp/work/ch2/plots/hist_mxph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87648"/>
            <a:ext cx="5516575" cy="4031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밀도곡선과 러그(rug)를 더한 히스토그램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212080" cy="1554480"/>
          </a:xfrm>
          <a:prstGeom prst="roundRect">
            <a:avLst>
              <a:gd name="adj" fmla="val 5294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4736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hist(algae$mxPH, prob=T, xlab='',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main='Histogram of maximum pH value', ylim=0:1)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lines(density(algae$mxPH, na.rm=T))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rug(jitter(algae$mxPH))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density() : 부드러운 커널 밀도 추정 곡선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rug() : 실제 관측값을 x축 근처에 눈금으로 표시 → 이상치 발견에 유용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하단에서 다른 값들과 뚝 떨어진 낮은 값 2개를 확인할 수 있음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53328" y="1614496"/>
            <a:ext cx="5662879" cy="4177647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11" name="Image 0" descr="/tmp/work/ch2/plots/hist_mxph_enric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687648"/>
            <a:ext cx="5516575" cy="40313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박스플롯(Box Plot)으로 이상치 확인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760720" cy="1554480"/>
          </a:xfrm>
          <a:prstGeom prst="roundRect">
            <a:avLst>
              <a:gd name="adj" fmla="val 5294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2852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boxplot(algae$oPO4, boxwex=0.15,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ylab='Orthophosphate (oPO4)')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rug(jitter(algae$oPO4), side=2)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abline(h=mean(algae$oPO4, na.rm=T), lty=2)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 = 1·3사분위, 상자 안 굵은 선 = 중앙값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위·아래 수염 밖 원 = 이상치(outlier) 후보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= 평균값 — 중앙값보다 훨씬 높음 → 오른쪽으로 치우친(skewed) 분포임을 시사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78165" y="1481328"/>
            <a:ext cx="4053286" cy="4443984"/>
          </a:xfrm>
          <a:prstGeom prst="roundRect">
            <a:avLst>
              <a:gd name="adj" fmla="val 135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11" name="Image 0" descr="/tmp/work/ch2/plots/boxplot_op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317" y="1554480"/>
            <a:ext cx="3906982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이상치가 있는 샘플 찾아내기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760720" cy="1828800"/>
          </a:xfrm>
          <a:prstGeom prst="roundRect">
            <a:avLst>
              <a:gd name="adj" fmla="val 45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28523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plot(algae$NH4, xlab='')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abline(h=mean(algae$NH4,na.rm=T), lty=1)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abline(h=mean(algae$NH4,na.rm=T)+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sd(algae$NH4,na.rm=T), lty=2)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algae[!is.na(algae$NH4) &amp; algae$NH4&gt;19000,]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58768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(153번 샘플): NH4 = 24064 — 다른 관측치들과 확연히 동떨어진 값. season=autumn, size=medium, speed=high.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그래프로 이상치를 발견한 뒤, 논리 인덱싱으로 해당 샘플의 행 전체를 확인할 수 있음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identify() 함수를 쓰면 그래프에서 마우스로 클릭해 대화형으로 점을 찾을 수도 있음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93408" y="1975643"/>
            <a:ext cx="5022799" cy="3455354"/>
          </a:xfrm>
          <a:prstGeom prst="roundRect">
            <a:avLst>
              <a:gd name="adj" fmla="val 1588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13" name="Image 0" descr="/tmp/work/ch2/plots/scatter_nh4_out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8795"/>
            <a:ext cx="4876495" cy="3309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VISUALIZATION · LATTICE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박스플롯: 강 크기별 조류 a1 분포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760720" cy="1234440"/>
          </a:xfrm>
          <a:prstGeom prst="roundRect">
            <a:avLst>
              <a:gd name="adj" fmla="val 6667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28523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library(lattice)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bwplot(size ~ a1, data=algae,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ylab='River Size', xlab='Alga A1')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lattice 패키지의 조건부(conditioned) 그래프: 범주형 변수별로 그래프를 나누어 비교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강(small)에서 조류 a1의 빈도가 상대적으로 더 높게 나타나는 경향을 관찰할 수 있음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93408" y="2062723"/>
            <a:ext cx="5022799" cy="3281194"/>
          </a:xfrm>
          <a:prstGeom prst="roundRect">
            <a:avLst>
              <a:gd name="adj" fmla="val 167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11" name="Image 0" descr="/tmp/work/ch2/plots/lattice_bwplot_a1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135875"/>
            <a:ext cx="4876495" cy="31348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VISUALIZATION · LATTICE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히스토그램: 계절별 mxPH 분포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760720" cy="822960"/>
          </a:xfrm>
          <a:prstGeom prst="roundRect">
            <a:avLst>
              <a:gd name="adj" fmla="val 100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285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histogram(~ mxPH | season, data=algae)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'~ mxPH | season' : season의 각 값(봄/여름/가을/겨울)마다 별도의 히스토그램을 그림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계절의 히스토그램 모양이 서로 비슷함 → mxPH는 계절의 영향을 크게 받지 않는 것으로 보임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방식으로 size, speed 등 다른 범주형 변수와의 관계도 탐색 가능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93408" y="1888563"/>
            <a:ext cx="5022799" cy="3629515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11" name="Image 0" descr="/tmp/work/ch2/plots/lattice_histogram_mxph_sea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61715"/>
            <a:ext cx="4876495" cy="34832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결측치가 있는 샘플 확인하기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035040" cy="1234440"/>
          </a:xfrm>
          <a:prstGeom prst="roundRect">
            <a:avLst>
              <a:gd name="adj" fmla="val 6667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559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algae[!complete.cases(algae),]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nrow(algae[!complete.cases(algae),])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6035040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10128"/>
            <a:ext cx="5577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결과: 결측치가 하나라도 있는 샘플은 16개 (28, 38, 48, 55~63, 116, 161, 184, 199번). 이 중 62번과 199번은 11개 설명변수 중 6개가 결측 — 거의 정보가 없는 샘플.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complete.cases() : 결측값이 하나도 없는 '완전한' 행이면 TRUE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'!' 연산자로 논리값을 반대로 뒤집어 결측치가 있는 행만 선택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737360"/>
            <a:ext cx="4785055" cy="448056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178040" y="2377440"/>
            <a:ext cx="414497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선형회귀처럼 일부 모델은 결측값이 있으면 아예 학습이 불가능합니다. 실제 데이터에서는 결측치가 매우 흔하므로, 이를 다루는 전략이 필수적입니다.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 처리 전략 4가지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68249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제거하기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011680"/>
            <a:ext cx="1038118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결측치가 있는 샘플(행)을 아예 데이터셋에서 제거. 결측 비율이 낮을 때 간단하고 효과적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6883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최빈값으로 채우기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017520"/>
            <a:ext cx="1038118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또는 중앙값 등 대표값으로 결측치를 채움. 빠르지만 편향(bias)이 생길 수 있음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69417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상관관계 탐색으로 채우기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023360"/>
            <a:ext cx="1038118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변수와의 상관관계(회귀식)를 이용해 더 그럴듯한 값을 추정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7000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유사 사례 탐색으로 채우기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029200"/>
            <a:ext cx="1038118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비슷한 다른 샘플들을 찾아 그 값들로 결측치를 추정 (최근접 이웃)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 1 · REMOVAL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①: 결측치가 있는 샘플 제거하기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376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 &lt;- na.omit(algae)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na.omit() : 결측값이 하나라도 있는 행을 모두 제거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 비율이 작을 때(16/200 ≈ 8%) 합리적인 선택이 될 수 있음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62번, 199번 샘플처럼 결측이 유난히 많은(11개 중 6개) 샘플은 채우기보다 제거하는 것이 안전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 · 일부만 제거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1737360"/>
            <a:ext cx="4693615" cy="822960"/>
          </a:xfrm>
          <a:prstGeom prst="roundRect">
            <a:avLst>
              <a:gd name="adj" fmla="val 10000"/>
            </a:avLst>
          </a:prstGeom>
          <a:solidFill>
            <a:srgbClr val="10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7187184" y="1883664"/>
            <a:ext cx="42181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 &lt;- algae[-c(62,199),]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2834640"/>
            <a:ext cx="4693615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2944368"/>
            <a:ext cx="423641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모델링(Part 2)에서는 이 두 샘플만 제거한 198개 데이터를 기본으로 사용합니다.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 2 · CENTRAL VALUE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②: 평균 또는 중앙값으로 채우기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5625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algae[48,'mxPH'] &lt;- mean(algae$mxPH, na.rm=T)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algae[is.na(algae$Chla),'Chla'] &lt;-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median(algae$Chla, na.rm=T)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38728"/>
            <a:ext cx="1063721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결과:  mean(mxPH, na.rm=T) = 8.0117   |   mean(Chla, na.rm=T) = 13.971,  median(Chla, na.rm=T) = 5.475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mxPH는 정규분포에 가까우므로 평균으로 채움이 합리적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Chla는 오른쪽으로 치우친(skewed) 분포 — 평균(13.971)이 대표값으로 부적절하므로 중앙값(5.475)을 사용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장점: 빠르고 구현이 쉬움 / 단점: 변수의 분산을 인위적으로 줄이고 편향을 일으킬 수 있어 대용량 데이터가 아니면 권장되지 않음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 3 · CORRELATION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③: 변수 간 상관관계 탐색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126480" cy="777240"/>
          </a:xfrm>
          <a:prstGeom prst="roundRect">
            <a:avLst>
              <a:gd name="adj" fmla="val 10588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650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symnum(cor(algae[,4:18], use="complete.obs"))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6126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symnum() : 상관행렬을 기호(공백/./,/*)로 요약해 한눈에 보기 쉽게 표시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대부분의 변수 쌍은 상관관계가 거의 없음(공백)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두 가지: NH4-NO3 (약한 상관, ',') 그리고 PO4-oPO4 (강한 상관, '*' → 0.9 이상)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PO4는 oPO4(용존 인산염)를 포함하는 총 인산염이므로 강한 상관은 화학적으로도 자연스러움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(일부)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1737360"/>
            <a:ext cx="4693615" cy="4297680"/>
          </a:xfrm>
          <a:prstGeom prst="roundRect">
            <a:avLst>
              <a:gd name="adj" fmla="val 1915"/>
            </a:avLst>
          </a:prstGeom>
          <a:solidFill>
            <a:srgbClr val="10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7187184" y="1883664"/>
            <a:ext cx="4218127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mP mO Cl NO NH o P Ch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mxPH 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mnO2    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         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NO3           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NH4            ,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oPO4     .  .       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PO4      .  .        * 1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Chla  .                    1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 3 · CORRELATION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상관관계로 발견한 회귀식으로 채우기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035040" cy="1417320"/>
          </a:xfrm>
          <a:prstGeom prst="roundRect">
            <a:avLst>
              <a:gd name="adj" fmla="val 5806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5595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lm(oPO4 ~ PO4, data=algae)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      PO4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-15.6142       0.6466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4728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oPO4 = -15.6142 + 0.6466 × PO4   (실제 실행 결과, 책의 수치와 정확히 일치)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6035040" cy="1965960"/>
          </a:xfrm>
          <a:prstGeom prst="roundRect">
            <a:avLst>
              <a:gd name="adj" fmla="val 4186"/>
            </a:avLst>
          </a:prstGeom>
          <a:solidFill>
            <a:srgbClr val="10192E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215384"/>
            <a:ext cx="555955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fillPO4 &lt;- function(oP) {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if (is.na(oP)) return(NA)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else return((oP+15.6142)/0.6466)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algae[is.na(algae$PO4),'PO4'] &lt;-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sapply(algae[is.na(algae$PO4),'oPO4'], fillPO4)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949440" y="1737360"/>
            <a:ext cx="46936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발견한 선형관계를 함수로 만들어 sapply()로 모든 결측치에 일괄 적용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결과: fillPO4(6.5) = 34.2 — 하나의 oPO4 값에서 대응하는 PO4 예측값을 얻음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방법은 강한 상관관계가 있는 변수 쌍에서만 신뢰할 수 있음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 4 · SIMILARITY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④: 가장 비슷한 사례로 채우기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035040" cy="1371600"/>
          </a:xfrm>
          <a:prstGeom prst="roundRect">
            <a:avLst>
              <a:gd name="adj" fmla="val 60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5595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library(cluster)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dist.mtx &lt;- as.matrix(daisy(algae, stand=T))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sort(dist.mtx['38',])[1:10]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55848"/>
            <a:ext cx="5577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 — 38번 샘플과 가장 가까운 이웃 10개(자기 자신 제외): 54, 22, 64, 11, 30, 25, 53, 37, 24, 18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38번 샘플의 mnO2가 결측 → 이웃들의 mnO2 중앙값으로 채움: median = 10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daisy() : 범주형·수치형이 섞인 데이터에서도 거리(유클리드 거리 기반)를 계산 (cluster 패키지)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stand=T : 변수마다 척도가 다르므로 평균 0, 표준편차 1로 표준화한 뒤 거리 계산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10개 이웃의 중앙값으로 결측치를 대체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 4 · SIMILARITY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central.value() 함수로 전체 자동화하기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2468880"/>
          </a:xfrm>
          <a:prstGeom prst="roundRect">
            <a:avLst>
              <a:gd name="adj" fmla="val 3333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central.value &lt;- function(x)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if (is.numeric(x)) median(x, na.rm=T)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else if (is.factor(x)) levels(x)[which.max(table(x))]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for(r in which(!complete.cases(algae)))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algae[r, which(is.na(algae[r,]))] &lt;-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apply(data.frame(algae[nbrs(r), which(is.na(algae[r,]))]),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2, central.value)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11094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central.value() : 수치형이면 중앙값, 범주형(factor)이면 최빈값을 반환하는 범용 함수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for문으로 결측치가 있는 모든 샘플에 대해 자동으로 이웃 기반 채우기를 수행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결과: sum(!complete.cases(clean.algae)) = 0 → 198개 샘플 모두 결측치 없이 완성!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정리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조류 대발생 예측 문제: 화학 성분으로 7종 조류의 빈도를 예측하는 회귀 문제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히스토그램·박스플롯·조건부(lattice) 그래프로 분포·이상치·변수 간 관계를 탐색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 처리 4가지 전략: 제거, 평균/중앙값 대체, 상관관계 활용, 유사 사례(최근접 이웃) 활용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사례 기반 방법으로 완성한 clean.algae (198개 샘플, 결측치 0개) — Part 2 모델링에 사용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2237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(Part 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선형회귀·회귀나무 모델 만들기, 교차검증으로 성능 평가하기, 140개 테스트 샘플의 조류 빈도 최종 예측하기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1 — 데이터 탐색과 결측치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해보기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282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변수 시각화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hist()와 boxplot()을 이용해 Cl 또는 NO3 변수의 분포를 그려보고, 치우친 정도를 관찰해보세요.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31455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 세어보기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47472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table(is.na(algae$Cl))로 Cl 변수의 결측치 개수를 직접 확인해보세요.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456285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채우기 전략 비교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89204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mxPH 48번 샘플을 평균으로 채우는 방법과, 유사 사례(이웃)로 채우는 방법의 결과값을 비교해보세요.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2026-08-25T13:30:40Z</dcterms:created>
  <dcterms:modified xsi:type="dcterms:W3CDTF">2026-08-25T13:30:40Z</dcterms:modified>
</cp:coreProperties>
</file>