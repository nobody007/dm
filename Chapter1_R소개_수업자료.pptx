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3017520"/>
            <a:ext cx="5943600" cy="5943600"/>
          </a:xfrm>
          <a:prstGeom prst="ellipse">
            <a:avLst/>
          </a:prstGeom>
          <a:solidFill>
            <a:srgbClr val="223762"/>
          </a:solidFill>
          <a:ln/>
        </p:spPr>
      </p:sp>
      <p:sp>
        <p:nvSpPr>
          <p:cNvPr id="3" name="Shape 1"/>
          <p:cNvSpPr/>
          <p:nvPr/>
        </p:nvSpPr>
        <p:spPr>
          <a:xfrm>
            <a:off x="9814255" y="-1645920"/>
            <a:ext cx="3291840" cy="3291840"/>
          </a:xfrm>
          <a:prstGeom prst="ellipse">
            <a:avLst/>
          </a:prstGeom>
          <a:solidFill>
            <a:srgbClr val="2C427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데이터마이닝 입문 · CHAPTER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R로 시작하는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데이터마이닝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45262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언어의 기본 개념과 문법 — 데이터마이닝을 위한 첫걸음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217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0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원저: Luis Torgo, ‘Data Mining with R’ (2003) 를 바탕으로 재구성한 수업자료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1 · R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1872" y="177393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데이터마이닝 개념 이해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2103120"/>
            <a:ext cx="1038118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데이터마이닝의 정의와 특징(대용량 데이터, 유용한 지식 발견)을 설명할 수 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61872" y="282549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R이라는 도구 이해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1872" y="3154680"/>
            <a:ext cx="1038118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R이 무엇이며 왜 데이터마이닝에 널리 사용되는지 설명할 수 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61872" y="387705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기본 문법 습득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1872" y="4206240"/>
            <a:ext cx="1038118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벡터·팩터·리스트·데이터프레임 등 핵심 자료구조를 다룰 수 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61872" y="492861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함수와 제어문 활용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61872" y="5257800"/>
            <a:ext cx="1038118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간단한 R 함수를 작성하고 if / for 문을 사용할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1 · R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MINING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데이터마이닝(Data Mining)이란?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데이터로부터 </a:t>
            </a:r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유용하고, 유효하며, 예상치 못한, 이해 가능한</a:t>
            </a:r>
            <a:pPr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지식을 발견하는 것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2F5F9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761488"/>
            <a:ext cx="2382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Useful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3273552"/>
            <a:ext cx="23826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유용성 —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활용 가능한 지식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79394" y="256032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2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489122" y="2761488"/>
            <a:ext cx="2382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Valid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89122" y="3273552"/>
            <a:ext cx="23826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유효성 —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새로운 데이터에도 타당함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0148" y="256032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2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319876" y="2761488"/>
            <a:ext cx="2382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Unexpected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19876" y="3273552"/>
            <a:ext cx="23826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의외성 —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밖의 통찰 제공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40901" y="256032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2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9150629" y="2761488"/>
            <a:ext cx="2382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Understandable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50629" y="3273552"/>
            <a:ext cx="23826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이해가능성 —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해석할 수 있음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48006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통계학·머신러닝·패턴인식과 목표를 공유하지만, 데이터마이닝을 구별짓는 핵심은 다루는 데이터의 ‘규모(size)’입니다.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1 · R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MINING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데이터마이닝은 어려운가?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6949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대용량 데이터: 정보기술의 발전으로 탐색해야 할 데이터의 양이 기하급수적으로 증가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 효율성: 큰 데이터를 다루기 위한 알고리즘 성능 문제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제한된 메모리 자원: 컴퓨터의 메모리 한계를 고려해야 함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연동: 데이터가 파일이 아닌 DB에 저장되는 경우가 많음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고차원 데이터 시각화: 변수가 많은 데이터를 어떻게 보여줄 것인가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80960" y="1737360"/>
            <a:ext cx="3962095" cy="2743200"/>
          </a:xfrm>
          <a:prstGeom prst="roundRect">
            <a:avLst>
              <a:gd name="adj" fmla="val 3333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0" y="1783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001000" y="2423160"/>
            <a:ext cx="33220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R은 기본적으로 모든 연산을 컴퓨터의 주 메모리(RAM)에서 수행합니다. 하지만 유연한 데이터베이스 인터페이스를 활용하면 큰 데이터도 다룰 수 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1 · R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R이란 무엇인가?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6766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5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계산과 그래픽을 위한 언어이자 환경(environment)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5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AT&amp;T Bell 연구소에서 개발된 S 언어의 한 갈래(dialect)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5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1996년 Ross Ihaka &amp; Robert Gentleman(오클랜드 대학교)이 개발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5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오픈소스·무료 소프트웨어이며 전 세계 개발자 커뮤니티가 함께 발전시킴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5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Windows, macOS, Linux 등 다양한 운영체제와 하드웨어 아키텍처를 지원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1737360"/>
            <a:ext cx="4144975" cy="3017520"/>
          </a:xfrm>
          <a:prstGeom prst="roundRect">
            <a:avLst>
              <a:gd name="adj" fmla="val 3030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1783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818120" y="2423160"/>
            <a:ext cx="35048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R의 전신인 S 언어는 1998년 ACM 소프트웨어 상을 수상했습니다. ‘사람들이 데이터를 분석하고 시각화하고 다루는 방식을 영원히 바꾸어 놓았다’는 평가를 받았습니다.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1 · R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데이터마이닝 도구로서의 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1872" y="163677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 &amp; 오픈소스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1965960"/>
            <a:ext cx="1038118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부담 없이 전문적인 데이터 분석 환경을 구축할 수 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1576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61872" y="2660904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방대한 패키지 생태계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1872" y="2990088"/>
            <a:ext cx="1038118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CRAN을 통해 수천 개의 add-on 패키지(통계·머신러닝·시각화 등)를 손쉽게 설치할 수 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61872" y="3685032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통계·시각화·DB 연동을 하나로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1872" y="4014216"/>
            <a:ext cx="1038118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분석부터 그래픽, 데이터베이스 연결까지 하나의 언어로 처리한다.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764024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61872" y="4709160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활발한 커뮤니티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61872" y="5038344"/>
            <a:ext cx="1038118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R-help 메일링 리스트, Stack Overflow 등에서 방대한 정보와 도움을 얻을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1 · R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GETTING STARTED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설치와 실행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1872" y="1636776"/>
            <a:ext cx="5596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설치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1965960"/>
            <a:ext cx="559612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CRAN(r-project.org)에서 운영체제에 맞는 배포판을 내려받아 설치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61872" y="2688336"/>
            <a:ext cx="5596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1872" y="3017520"/>
            <a:ext cx="559612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콘솔을 실행하거나, 오늘날에는 RStudio 같은 통합개발환경(IDE) 사용을 권장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61872" y="3739896"/>
            <a:ext cx="5596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명령어 입력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1872" y="4069080"/>
            <a:ext cx="559612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“&gt;” 에서 명령을 입력하고 Enter를 누르면 결과가 출력됨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61872" y="4791456"/>
            <a:ext cx="5596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61872" y="5120640"/>
            <a:ext cx="559612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q() 명령으로 종료 — 작업공간(workspace) 저장 여부를 선택할 수 있음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23760" y="17007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223760" y="2011680"/>
            <a:ext cx="4419295" cy="2377440"/>
          </a:xfrm>
          <a:prstGeom prst="roundRect">
            <a:avLst>
              <a:gd name="adj" fmla="val 3462"/>
            </a:avLst>
          </a:prstGeom>
          <a:solidFill>
            <a:srgbClr val="10192E"/>
          </a:solidFill>
          <a:ln/>
        </p:spPr>
      </p:sp>
      <p:sp>
        <p:nvSpPr>
          <p:cNvPr id="24" name="Text 22"/>
          <p:cNvSpPr/>
          <p:nvPr/>
        </p:nvSpPr>
        <p:spPr>
          <a:xfrm>
            <a:off x="7479792" y="2194560"/>
            <a:ext cx="3907231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x &lt;- 10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x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10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q()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1 · R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BASICS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객체(Object)와 대입연산자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R에서는 변수·데이터·함수 등 모든 것이 이름을 가진 객체(object)로 저장됨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저장할 때는 대입연산자 &lt;- 또는 -&gt; 사용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ls() : 현재 메모리에 있는 객체 목록 확인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rm() : 더 이상 필요 없는 객체를 삭제하여 메모리 확보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995160" y="1426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995160" y="1737360"/>
            <a:ext cx="4647895" cy="3931920"/>
          </a:xfrm>
          <a:prstGeom prst="roundRect">
            <a:avLst>
              <a:gd name="adj" fmla="val 2093"/>
            </a:avLst>
          </a:prstGeom>
          <a:solidFill>
            <a:srgbClr val="10192E"/>
          </a:solidFill>
          <a:ln/>
        </p:spPr>
      </p:sp>
      <p:sp>
        <p:nvSpPr>
          <p:cNvPr id="9" name="Text 7"/>
          <p:cNvSpPr/>
          <p:nvPr/>
        </p:nvSpPr>
        <p:spPr>
          <a:xfrm>
            <a:off x="7251192" y="1920240"/>
            <a:ext cx="4135831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y &lt;- 39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y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39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 &lt;- 5^2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25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ls()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"w" "y"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rm(y)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1 · R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BASICS · VECTOR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벡터(Vector)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6035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R에서 가장 기본이 되는 자료구조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c() 함수로 여러 값을 하나의 벡터로 결합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 : 벡터에 담긴 값의 자료형(character/logical/numeric 등)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length : 벡터에 들어있는 원소의 개수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995160" y="1426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995160" y="1737360"/>
            <a:ext cx="4647895" cy="3657600"/>
          </a:xfrm>
          <a:prstGeom prst="roundRect">
            <a:avLst>
              <a:gd name="adj" fmla="val 2250"/>
            </a:avLst>
          </a:prstGeom>
          <a:solidFill>
            <a:srgbClr val="10192E"/>
          </a:solidFill>
          <a:ln/>
        </p:spPr>
      </p:sp>
      <p:sp>
        <p:nvSpPr>
          <p:cNvPr id="9" name="Text 7"/>
          <p:cNvSpPr/>
          <p:nvPr/>
        </p:nvSpPr>
        <p:spPr>
          <a:xfrm>
            <a:off x="7251192" y="1920240"/>
            <a:ext cx="413583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v &lt;- c(4, 7, 23.5, 76.2, 80)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v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4.0 7.0 23.5 76.2 80.0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length(v)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5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mode(v)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"numeric"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1 · R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BASICS · VECTOR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 변환(Coercion)과 결측값 NA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6126480" cy="3474720"/>
          </a:xfrm>
          <a:prstGeom prst="roundRect">
            <a:avLst>
              <a:gd name="adj" fmla="val 2368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0240"/>
            <a:ext cx="561441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v &lt;- c(4, 7, 23.5, "rrt")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v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"4"    "7"    "23.5" "rrt"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u &lt;- c(4, 6, NA, 2)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u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4 6 NA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49440" y="1828800"/>
            <a:ext cx="46936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벡터의 모든 원소는 같은 자료형이어야 함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자료형이 다르면 R이 자동으로 형을 통일(강제 형변환)함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NA는 ‘결측값(missing value)’을 나타내는 특수한 값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1 · R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BASICS · VECTOR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 인덱싱 · 원소 추가/삭제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대괄호 [ ] 안에 위치(index)를 지정해 원소에 접근·수정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존재하지 않는 인덱스에 값을 대입하면 벡터가 자동으로 확장됨(빈 자리는 NA)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995160" y="1426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995160" y="1737360"/>
            <a:ext cx="4647895" cy="3749040"/>
          </a:xfrm>
          <a:prstGeom prst="roundRect">
            <a:avLst>
              <a:gd name="adj" fmla="val 2195"/>
            </a:avLst>
          </a:prstGeom>
          <a:solidFill>
            <a:srgbClr val="10192E"/>
          </a:solidFill>
          <a:ln/>
        </p:spPr>
      </p:sp>
      <p:sp>
        <p:nvSpPr>
          <p:cNvPr id="9" name="Text 7"/>
          <p:cNvSpPr/>
          <p:nvPr/>
        </p:nvSpPr>
        <p:spPr>
          <a:xfrm>
            <a:off x="7251192" y="1920240"/>
            <a:ext cx="4135831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v &lt;- c(45, 243, 78, 343, 445)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v[2]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243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v[1] &lt;- 100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v[6] &lt;- 99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v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100 243  78 343 445  99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1 · R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BASICS · VECTOR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벡터화 연산과 재사용 규칙(Recycling Rule)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함수나 연산자가 벡터의 모든 원소에 자동으로 적용됨 (반복문 불필요)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길이가 다른 두 벡터를 연산하면, 짧은 벡터를 반복(recycle)해 길이를 맞춤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995160" y="1426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995160" y="1737360"/>
            <a:ext cx="4647895" cy="3108960"/>
          </a:xfrm>
          <a:prstGeom prst="roundRect">
            <a:avLst>
              <a:gd name="adj" fmla="val 2647"/>
            </a:avLst>
          </a:prstGeom>
          <a:solidFill>
            <a:srgbClr val="10192E"/>
          </a:solidFill>
          <a:ln/>
        </p:spPr>
      </p:sp>
      <p:sp>
        <p:nvSpPr>
          <p:cNvPr id="9" name="Text 7"/>
          <p:cNvSpPr/>
          <p:nvPr/>
        </p:nvSpPr>
        <p:spPr>
          <a:xfrm>
            <a:off x="7251192" y="1920240"/>
            <a:ext cx="4135831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v &lt;- c(4, 7, 23.5, 76.2, 80)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sqrt(v)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2.00 2.65 4.85 8.73 8.94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c(1,2,3,4) + c(10,20)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11 22 13 24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1 · R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BASICS · FACTOR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팩터(Factor) — 범주형 데이터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범주형(명목형) 변수를 표현하기 위한 자료구조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가능한 값들을 levels(수준)이라 부름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내부적으로는 1, 2, …, k 의 정수로 저장됨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995160" y="1426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995160" y="1737360"/>
            <a:ext cx="4647895" cy="2743200"/>
          </a:xfrm>
          <a:prstGeom prst="roundRect">
            <a:avLst>
              <a:gd name="adj" fmla="val 3000"/>
            </a:avLst>
          </a:prstGeom>
          <a:solidFill>
            <a:srgbClr val="10192E"/>
          </a:solidFill>
          <a:ln/>
        </p:spPr>
      </p:sp>
      <p:sp>
        <p:nvSpPr>
          <p:cNvPr id="9" name="Text 7"/>
          <p:cNvSpPr/>
          <p:nvPr/>
        </p:nvSpPr>
        <p:spPr>
          <a:xfrm>
            <a:off x="7251192" y="1920240"/>
            <a:ext cx="4135831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g &lt;- c('f','m','m','f','m')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g &lt;- factor(g)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g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f m m f m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Levels: f m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1 · R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BASICS · FACTOR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팩터 활용: 도수분포표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6217920" cy="3931920"/>
          </a:xfrm>
          <a:prstGeom prst="roundRect">
            <a:avLst>
              <a:gd name="adj" fmla="val 2093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0240"/>
            <a:ext cx="570585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table(g)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m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2 3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table(a, g)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g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        f m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adult    4 2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juvenile 1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86600" y="1828800"/>
            <a:ext cx="45564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table() : 각 범주(level)의 도수를 계산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팩터를 함께 넣으면 교차표(cross-tabulation) 생성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margin.table() : 행/열 주변합, prop.table() : 상대도수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1 · R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BASICS · SEQUENCE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수열(Sequence) 생성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6217920" cy="3474720"/>
          </a:xfrm>
          <a:prstGeom prst="roundRect">
            <a:avLst>
              <a:gd name="adj" fmla="val 2368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0240"/>
            <a:ext cx="570585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1:10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[1] 1 2 3 4 5 6 7 8 9 10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seq(0, 1, 0.25)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0.00 0.25 0.50 0.75 1.00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rep(1:3, 2)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1 2 3 1 2 3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086600" y="1828800"/>
            <a:ext cx="45564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1:10  →  정수 수열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seq() →  실수 간격을 갖는 수열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rep() →  반복되는 수열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gl()  →  팩터(범주형) 수열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1 · R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BASICS · INDEXING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인덱싱(Indexing) 기법 총정리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3566160"/>
        </p:xfrm>
        <a:graphic>
          <a:graphicData uri="http://schemas.openxmlformats.org/drawingml/2006/table">
            <a:tbl>
              <a:tblPr/>
              <a:tblGrid>
                <a:gridCol w="2377440"/>
                <a:gridCol w="5486400"/>
                <a:gridCol w="32004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유형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예시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논리 인덱스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조건이 참(TRUE)인 원소만 추출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x[x &gt; 0]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정수 인덱스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지정한 위치의 원소를 추출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x[c(2, 4)]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음수 인덱스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지정한 위치의 원소를 제외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x[-1]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 인덱스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names()로 지정한 이름으로 접근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pH['mud']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빈 인덱스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모든 원소를 선택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x[]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1 · R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BASICS · MATRIX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행렬(Matrix)과 배열(Array)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943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행렬 = 2차원으로 배열된 벡터 (matrix() 로 생성)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 = 2차원 이상으로 확장된 구조 (array() 로 생성)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m[행, 열] 형태로 인덱싱, 행/열 생략 시 전체 반환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cbind() / rbind() 로 벡터·행렬을 열/행 방향으로 결합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903720" y="1426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903720" y="1737360"/>
            <a:ext cx="4739335" cy="4114800"/>
          </a:xfrm>
          <a:prstGeom prst="roundRect">
            <a:avLst>
              <a:gd name="adj" fmla="val 2000"/>
            </a:avLst>
          </a:prstGeom>
          <a:solidFill>
            <a:srgbClr val="10192E"/>
          </a:solidFill>
          <a:ln/>
        </p:spPr>
      </p:sp>
      <p:sp>
        <p:nvSpPr>
          <p:cNvPr id="9" name="Text 7"/>
          <p:cNvSpPr/>
          <p:nvPr/>
        </p:nvSpPr>
        <p:spPr>
          <a:xfrm>
            <a:off x="7159752" y="1920240"/>
            <a:ext cx="4227271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 &lt;- matrix(1:10, 2, 5)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[,1][,2][,3][,4][,5]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[1,]   1   3   5   7   9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[2,]   2   4   6   8  10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m[2, 3]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6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m[1, ]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1 3 5 7 9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1 · R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BASICS · LIST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리스트(List)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6035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타입·길이의 객체를 하나로 묶을 수 있는 순서 있는 집합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$ 로 이름이 붙은 구성요소(component)에 접근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[[ ]] 는 값 자체를, [ ] 는 부분 리스트를 반환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995160" y="1426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995160" y="1737360"/>
            <a:ext cx="4647895" cy="3383280"/>
          </a:xfrm>
          <a:prstGeom prst="roundRect">
            <a:avLst>
              <a:gd name="adj" fmla="val 2432"/>
            </a:avLst>
          </a:prstGeom>
          <a:solidFill>
            <a:srgbClr val="10192E"/>
          </a:solidFill>
          <a:ln/>
        </p:spPr>
      </p:sp>
      <p:sp>
        <p:nvSpPr>
          <p:cNvPr id="9" name="Text 7"/>
          <p:cNvSpPr/>
          <p:nvPr/>
        </p:nvSpPr>
        <p:spPr>
          <a:xfrm>
            <a:off x="7251192" y="1920240"/>
            <a:ext cx="4135831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lst &lt;- list(id=1, name="Kim",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marks=c(90,85))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lst$name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"Kim"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lst[[3]]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90 85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1 · R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BASICS · DATA FRAME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데이터프레임(Data Frame)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행(row) = 관측치(observation), 열(column) = 변수(variable)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행렬과 달리 열마다 서로 다른 자료형을 가질 수 있음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데이터마이닝에서 가장 자주 사용하는 핵심 자료구조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903720" y="1426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903720" y="1737360"/>
            <a:ext cx="4739335" cy="4023360"/>
          </a:xfrm>
          <a:prstGeom prst="roundRect">
            <a:avLst>
              <a:gd name="adj" fmla="val 2045"/>
            </a:avLst>
          </a:prstGeom>
          <a:solidFill>
            <a:srgbClr val="10192E"/>
          </a:solidFill>
          <a:ln/>
        </p:spPr>
      </p:sp>
      <p:sp>
        <p:nvSpPr>
          <p:cNvPr id="9" name="Text 7"/>
          <p:cNvSpPr/>
          <p:nvPr/>
        </p:nvSpPr>
        <p:spPr>
          <a:xfrm>
            <a:off x="7159752" y="1920240"/>
            <a:ext cx="4227271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df &lt;- data.frame(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site=c('A','B','A'),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pH=c(7.4,6.3,8.6))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df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site  pH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A 7.4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B 6.3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A 8.6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1 · R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BASICS · DATA FRAME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데이터프레임 조건 조회(쿼리)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6035040" cy="3108960"/>
          </a:xfrm>
          <a:prstGeom prst="roundRect">
            <a:avLst>
              <a:gd name="adj" fmla="val 2647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0240"/>
            <a:ext cx="55229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df[df$pH &gt; 7, 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site  pH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A 7.4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A 8.6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nrow(df)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1828800"/>
            <a:ext cx="47850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조건식을 [행, 열] 자리의 ‘행’ 위치에 넣어 필터링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nrow() / ncol() 로 행·열 개수 확인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attach() / detach() 로 열 이름을 직접 사용 가능 (요즘은 with()나 dplyr 계열 함수 사용을 더 권장)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1 · R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BASICS · FUNCTIONS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쓰는 내장 함수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3200400"/>
        </p:xfrm>
        <a:graphic>
          <a:graphicData uri="http://schemas.openxmlformats.org/drawingml/2006/table">
            <a:tbl>
              <a:tblPr/>
              <a:tblGrid>
                <a:gridCol w="2011680"/>
                <a:gridCol w="3931920"/>
                <a:gridCol w="51206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함수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기초 통계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sum, mean, median, sd, var, quantile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합계·평균·중앙값·표준편차·분산·분위수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정렬·순위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sort, rank, rev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정렬, 순위, 순서 뒤집기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반복 적용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apply, sapply, lapply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행/열/벡터/리스트에 함수를 일괄 적용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집단 요약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aggregate, by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그룹별로 요약 함수를 적용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1 · R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BASICS · FUNCTION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나만의 함수 만들기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function(매개변수) { 실행문 } 형태로 함수를 정의하고 이름에 대입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return() 을 쓰거나, 마지막에 평가된 값이 자동으로 반환됨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작업을 자동화하고 코드를 재사용할 수 있음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903720" y="1426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903720" y="1737360"/>
            <a:ext cx="4739335" cy="3931920"/>
          </a:xfrm>
          <a:prstGeom prst="roundRect">
            <a:avLst>
              <a:gd name="adj" fmla="val 2093"/>
            </a:avLst>
          </a:prstGeom>
          <a:solidFill>
            <a:srgbClr val="10192E"/>
          </a:solidFill>
          <a:ln/>
        </p:spPr>
      </p:sp>
      <p:sp>
        <p:nvSpPr>
          <p:cNvPr id="9" name="Text 7"/>
          <p:cNvSpPr/>
          <p:nvPr/>
        </p:nvSpPr>
        <p:spPr>
          <a:xfrm>
            <a:off x="7159752" y="1920240"/>
            <a:ext cx="4227271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se &lt;- function(x)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v &lt;- var(x)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n &lt;- length(x)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sqrt(v / n)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se(c(45,2,3,5,76,2,4))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11.10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1 · R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BASICS · CONTROL FLOW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제어문: if 와 for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if(조건) { … } — 조건이 참일 때만 실행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for(변수 in 범위) { … } — 정해진 횟수만큼 반복 실행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cat() 으로 결과를 화면에 출력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903720" y="1426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903720" y="1737360"/>
            <a:ext cx="4739335" cy="4206240"/>
          </a:xfrm>
          <a:prstGeom prst="roundRect">
            <a:avLst>
              <a:gd name="adj" fmla="val 1957"/>
            </a:avLst>
          </a:prstGeom>
          <a:solidFill>
            <a:srgbClr val="10192E"/>
          </a:solidFill>
          <a:ln/>
        </p:spPr>
      </p:sp>
      <p:sp>
        <p:nvSpPr>
          <p:cNvPr id="9" name="Text 7"/>
          <p:cNvSpPr/>
          <p:nvPr/>
        </p:nvSpPr>
        <p:spPr>
          <a:xfrm>
            <a:off x="7159752" y="1920240"/>
            <a:ext cx="4227271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f &lt;- function(x)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for (i in 1:3)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cat(x,'*',i,'=',x*i,'\n')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f(3)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* 1 = 3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* 2 = 6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* 3 = 9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1 · R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BASICS · SESSION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 관리와 더 배우기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1872" y="163677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source('code.R')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1965960"/>
            <a:ext cx="1038118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파일에 저장한 R 코드를 한 번에 실행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1576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61872" y="2660904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save() / load()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1872" y="2990088"/>
            <a:ext cx="1038118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객체를 파일로 저장하고, 다음 세션에서 다시 불러오기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61872" y="3685032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getwd() / setwd()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1872" y="4014216"/>
            <a:ext cx="1038118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작업 디렉터리를 확인·변경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764024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61872" y="4709160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배우기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61872" y="5038344"/>
            <a:ext cx="1038118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배포판에 포함된 ‘An Introduction to R’ 매뉴얼, CRAN 문서 참고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A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1 · R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1 정리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E7E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데이터마이닝 = 대용량 데이터에서 유용하고 이해 가능한 지식을 발견하는 과정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E7E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= 무료·오픈소스 통계 계산 및 그래픽 언어이자 환경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E7E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벡터·팩터·리스트·데이터프레임은 R의 핵심 자료구조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E7E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작성과 if / for 제어문으로 반복 작업을 자동화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22376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029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34924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– 조류 대발생(Algae Blooms) 예측: 실제 데이터로 배우는 첫 데이터마이닝 사례연구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1 · R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PRACTICE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해보기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1872" y="172821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벡터와 결측값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2057400"/>
            <a:ext cx="10381183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&lt;- c(3, 7, NA, 12, 5) 벡터를 만들고, 결측값을 제외한 평균을 구해보세요. (힌트: mean(x, na.rm=TRUE))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61872" y="314553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팩터와 도수분포표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1872" y="3474720"/>
            <a:ext cx="10381183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5명의 성별 벡터를 만들어 factor()로 변환하고, table()로 도수를 확인해보세요.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61872" y="456285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데이터프레임 필터링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1872" y="4892040"/>
            <a:ext cx="10381183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이름과 점수로 이루어진 데이터프레임을 만들고, 점수가 80점을 넘는 학생만 조회해보세요.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2026-08-25T13:14:32Z</dcterms:created>
  <dcterms:modified xsi:type="dcterms:W3CDTF">2026-08-25T13:14:32Z</dcterms:modified>
</cp:coreProperties>
</file>